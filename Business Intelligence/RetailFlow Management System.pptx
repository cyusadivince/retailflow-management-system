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Helvetica World" panose="020B0604020202020204" charset="-128"/>
      <p:regular r:id="rId12"/>
    </p:embeddedFont>
    <p:embeddedFont>
      <p:font typeface="Helvetica World Bold" panose="020B0604020202020204" charset="-128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658" y="-2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497684" y="5496684"/>
            <a:ext cx="4983320" cy="4983320"/>
          </a:xfrm>
          <a:custGeom>
            <a:avLst/>
            <a:gdLst/>
            <a:ahLst/>
            <a:cxnLst/>
            <a:rect l="l" t="t" r="r" b="b"/>
            <a:pathLst>
              <a:path w="4983320" h="4983320">
                <a:moveTo>
                  <a:pt x="0" y="0"/>
                </a:moveTo>
                <a:lnTo>
                  <a:pt x="4983321" y="0"/>
                </a:lnTo>
                <a:lnTo>
                  <a:pt x="4983321" y="4983321"/>
                </a:lnTo>
                <a:lnTo>
                  <a:pt x="0" y="49833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212305" y="-193005"/>
            <a:ext cx="4983320" cy="4983320"/>
          </a:xfrm>
          <a:custGeom>
            <a:avLst/>
            <a:gdLst/>
            <a:ahLst/>
            <a:cxnLst/>
            <a:rect l="l" t="t" r="r" b="b"/>
            <a:pathLst>
              <a:path w="4983320" h="4983320">
                <a:moveTo>
                  <a:pt x="0" y="0"/>
                </a:moveTo>
                <a:lnTo>
                  <a:pt x="4983320" y="0"/>
                </a:lnTo>
                <a:lnTo>
                  <a:pt x="4983320" y="4983321"/>
                </a:lnTo>
                <a:lnTo>
                  <a:pt x="0" y="49833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317953" y="6316953"/>
            <a:ext cx="3970047" cy="3970047"/>
          </a:xfrm>
          <a:custGeom>
            <a:avLst/>
            <a:gdLst/>
            <a:ahLst/>
            <a:cxnLst/>
            <a:rect l="l" t="t" r="r" b="b"/>
            <a:pathLst>
              <a:path w="3970047" h="3970047">
                <a:moveTo>
                  <a:pt x="0" y="0"/>
                </a:moveTo>
                <a:lnTo>
                  <a:pt x="3970047" y="0"/>
                </a:lnTo>
                <a:lnTo>
                  <a:pt x="3970047" y="3970047"/>
                </a:lnTo>
                <a:lnTo>
                  <a:pt x="0" y="39700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2700000">
            <a:off x="15796340" y="2286577"/>
            <a:ext cx="4983320" cy="4983320"/>
          </a:xfrm>
          <a:custGeom>
            <a:avLst/>
            <a:gdLst/>
            <a:ahLst/>
            <a:cxnLst/>
            <a:rect l="l" t="t" r="r" b="b"/>
            <a:pathLst>
              <a:path w="4983320" h="4983320">
                <a:moveTo>
                  <a:pt x="0" y="0"/>
                </a:moveTo>
                <a:lnTo>
                  <a:pt x="4983320" y="0"/>
                </a:lnTo>
                <a:lnTo>
                  <a:pt x="4983320" y="4983320"/>
                </a:lnTo>
                <a:lnTo>
                  <a:pt x="0" y="49833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0" y="0"/>
            <a:ext cx="3970047" cy="3970047"/>
          </a:xfrm>
          <a:custGeom>
            <a:avLst/>
            <a:gdLst/>
            <a:ahLst/>
            <a:cxnLst/>
            <a:rect l="l" t="t" r="r" b="b"/>
            <a:pathLst>
              <a:path w="3970047" h="3970047">
                <a:moveTo>
                  <a:pt x="0" y="0"/>
                </a:moveTo>
                <a:lnTo>
                  <a:pt x="3970047" y="0"/>
                </a:lnTo>
                <a:lnTo>
                  <a:pt x="3970047" y="3970047"/>
                </a:lnTo>
                <a:lnTo>
                  <a:pt x="0" y="39700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2700000" flipH="1" flipV="1">
            <a:off x="-2491660" y="2930197"/>
            <a:ext cx="4983320" cy="4983320"/>
          </a:xfrm>
          <a:custGeom>
            <a:avLst/>
            <a:gdLst/>
            <a:ahLst/>
            <a:cxnLst/>
            <a:rect l="l" t="t" r="r" b="b"/>
            <a:pathLst>
              <a:path w="4983320" h="4983320">
                <a:moveTo>
                  <a:pt x="4983320" y="4983320"/>
                </a:moveTo>
                <a:lnTo>
                  <a:pt x="0" y="4983320"/>
                </a:lnTo>
                <a:lnTo>
                  <a:pt x="0" y="0"/>
                </a:lnTo>
                <a:lnTo>
                  <a:pt x="4983320" y="0"/>
                </a:lnTo>
                <a:lnTo>
                  <a:pt x="4983320" y="498332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343100" y="-1328448"/>
            <a:ext cx="2686201" cy="2656897"/>
          </a:xfrm>
          <a:custGeom>
            <a:avLst/>
            <a:gdLst/>
            <a:ahLst/>
            <a:cxnLst/>
            <a:rect l="l" t="t" r="r" b="b"/>
            <a:pathLst>
              <a:path w="2686201" h="2656897">
                <a:moveTo>
                  <a:pt x="0" y="0"/>
                </a:moveTo>
                <a:lnTo>
                  <a:pt x="2686200" y="0"/>
                </a:lnTo>
                <a:lnTo>
                  <a:pt x="2686200" y="2656896"/>
                </a:lnTo>
                <a:lnTo>
                  <a:pt x="0" y="26568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944900" y="8958552"/>
            <a:ext cx="2686201" cy="2656897"/>
          </a:xfrm>
          <a:custGeom>
            <a:avLst/>
            <a:gdLst/>
            <a:ahLst/>
            <a:cxnLst/>
            <a:rect l="l" t="t" r="r" b="b"/>
            <a:pathLst>
              <a:path w="2686201" h="2656897">
                <a:moveTo>
                  <a:pt x="0" y="0"/>
                </a:moveTo>
                <a:lnTo>
                  <a:pt x="2686200" y="0"/>
                </a:lnTo>
                <a:lnTo>
                  <a:pt x="2686200" y="2656896"/>
                </a:lnTo>
                <a:lnTo>
                  <a:pt x="0" y="26568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34599" y="1985023"/>
            <a:ext cx="1911810" cy="232893"/>
          </a:xfrm>
          <a:custGeom>
            <a:avLst/>
            <a:gdLst/>
            <a:ahLst/>
            <a:cxnLst/>
            <a:rect l="l" t="t" r="r" b="b"/>
            <a:pathLst>
              <a:path w="1911810" h="232893">
                <a:moveTo>
                  <a:pt x="0" y="0"/>
                </a:moveTo>
                <a:lnTo>
                  <a:pt x="1911811" y="0"/>
                </a:lnTo>
                <a:lnTo>
                  <a:pt x="1911811" y="232894"/>
                </a:lnTo>
                <a:lnTo>
                  <a:pt x="0" y="23289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676646" y="8069083"/>
            <a:ext cx="1911810" cy="232893"/>
          </a:xfrm>
          <a:custGeom>
            <a:avLst/>
            <a:gdLst/>
            <a:ahLst/>
            <a:cxnLst/>
            <a:rect l="l" t="t" r="r" b="b"/>
            <a:pathLst>
              <a:path w="1911810" h="232893">
                <a:moveTo>
                  <a:pt x="0" y="0"/>
                </a:moveTo>
                <a:lnTo>
                  <a:pt x="1911811" y="0"/>
                </a:lnTo>
                <a:lnTo>
                  <a:pt x="1911811" y="232894"/>
                </a:lnTo>
                <a:lnTo>
                  <a:pt x="0" y="23289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028700" y="8792994"/>
            <a:ext cx="3010803" cy="930612"/>
          </a:xfrm>
          <a:custGeom>
            <a:avLst/>
            <a:gdLst/>
            <a:ahLst/>
            <a:cxnLst/>
            <a:rect l="l" t="t" r="r" b="b"/>
            <a:pathLst>
              <a:path w="3010803" h="930612">
                <a:moveTo>
                  <a:pt x="0" y="0"/>
                </a:moveTo>
                <a:lnTo>
                  <a:pt x="3010803" y="0"/>
                </a:lnTo>
                <a:lnTo>
                  <a:pt x="3010803" y="930612"/>
                </a:lnTo>
                <a:lnTo>
                  <a:pt x="0" y="930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4248497" y="563394"/>
            <a:ext cx="3010803" cy="930612"/>
          </a:xfrm>
          <a:custGeom>
            <a:avLst/>
            <a:gdLst/>
            <a:ahLst/>
            <a:cxnLst/>
            <a:rect l="l" t="t" r="r" b="b"/>
            <a:pathLst>
              <a:path w="3010803" h="930612">
                <a:moveTo>
                  <a:pt x="3010803" y="0"/>
                </a:moveTo>
                <a:lnTo>
                  <a:pt x="0" y="0"/>
                </a:lnTo>
                <a:lnTo>
                  <a:pt x="0" y="930612"/>
                </a:lnTo>
                <a:lnTo>
                  <a:pt x="3010803" y="930612"/>
                </a:lnTo>
                <a:lnTo>
                  <a:pt x="3010803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43100" y="3705028"/>
            <a:ext cx="15768217" cy="1511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27"/>
              </a:lnSpc>
            </a:pPr>
            <a:r>
              <a:rPr lang="en-US" sz="7200" b="1" dirty="0" err="1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RetailFlow</a:t>
            </a:r>
            <a:r>
              <a:rPr lang="en-US" sz="7200" b="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Management System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368201" y="5671537"/>
            <a:ext cx="9551598" cy="620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30"/>
              </a:lnSpc>
              <a:spcBef>
                <a:spcPct val="0"/>
              </a:spcBef>
            </a:pPr>
            <a:r>
              <a:rPr lang="en-US" sz="3736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Presented by Cyusa Divince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712065" y="6644952"/>
            <a:ext cx="5886028" cy="381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230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ID : 27516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6642264" y="3531617"/>
            <a:ext cx="9066610" cy="319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 rapid growth of online shopping has created a need for efficient e-commerce platforms that can manage product listings, customer orders, and payment processing. Many small to medium-sized businesses struggle to establish a robust online presence due to the complexity of managing these components effectively. This project aims to develop a PL/SQL-based Oracle database solution to streamline the e-commerce process, ensuring a seamless shopping experience for customers and efficient management for businesses.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3795119" y="1241246"/>
            <a:ext cx="8110482" cy="1030616"/>
            <a:chOff x="0" y="0"/>
            <a:chExt cx="2440718" cy="31014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0718" cy="310147"/>
            </a:xfrm>
            <a:custGeom>
              <a:avLst/>
              <a:gdLst/>
              <a:ahLst/>
              <a:cxnLst/>
              <a:rect l="l" t="t" r="r" b="b"/>
              <a:pathLst>
                <a:path w="2440718" h="310147">
                  <a:moveTo>
                    <a:pt x="0" y="0"/>
                  </a:moveTo>
                  <a:lnTo>
                    <a:pt x="2440718" y="0"/>
                  </a:lnTo>
                  <a:lnTo>
                    <a:pt x="2440718" y="310147"/>
                  </a:lnTo>
                  <a:lnTo>
                    <a:pt x="0" y="310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440718" cy="367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18" name="AutoShape 18"/>
          <p:cNvSpPr/>
          <p:nvPr/>
        </p:nvSpPr>
        <p:spPr>
          <a:xfrm>
            <a:off x="7891929" y="2865355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19" name="AutoShape 19"/>
          <p:cNvSpPr/>
          <p:nvPr/>
        </p:nvSpPr>
        <p:spPr>
          <a:xfrm>
            <a:off x="7884175" y="8323822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20" name="TextBox 20"/>
          <p:cNvSpPr txBox="1"/>
          <p:nvPr/>
        </p:nvSpPr>
        <p:spPr>
          <a:xfrm>
            <a:off x="3795119" y="1288702"/>
            <a:ext cx="7079755" cy="1641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  <a:spcBef>
                <a:spcPct val="0"/>
              </a:spcBef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  <a:p>
            <a:pPr algn="ctr">
              <a:lnSpc>
                <a:spcPts val="6320"/>
              </a:lnSpc>
              <a:spcBef>
                <a:spcPct val="0"/>
              </a:spcBef>
            </a:pPr>
            <a:endParaRPr lang="en-US" sz="4514" b="1">
              <a:solidFill>
                <a:srgbClr val="FFFFFF"/>
              </a:solidFill>
              <a:latin typeface="Helvetica World Bold"/>
              <a:ea typeface="Helvetica World Bold"/>
              <a:cs typeface="Helvetica World Bold"/>
              <a:sym typeface="Helvetica World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3496626" y="3643028"/>
            <a:ext cx="12552684" cy="79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Design a relational schema for product ordering, customer data, and transactions</a:t>
            </a:r>
          </a:p>
          <a:p>
            <a:pPr algn="l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496626" y="4932916"/>
            <a:ext cx="12552684" cy="79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Automate order placement using stored procedures</a:t>
            </a:r>
          </a:p>
          <a:p>
            <a:pPr algn="l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496626" y="6145015"/>
            <a:ext cx="12552684" cy="79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Calculate customer spending using functions</a:t>
            </a:r>
          </a:p>
          <a:p>
            <a:pPr algn="l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6366890" y="1241246"/>
            <a:ext cx="5538711" cy="1030616"/>
            <a:chOff x="0" y="0"/>
            <a:chExt cx="1666785" cy="31014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66785" cy="310147"/>
            </a:xfrm>
            <a:custGeom>
              <a:avLst/>
              <a:gdLst/>
              <a:ahLst/>
              <a:cxnLst/>
              <a:rect l="l" t="t" r="r" b="b"/>
              <a:pathLst>
                <a:path w="1666785" h="310147">
                  <a:moveTo>
                    <a:pt x="0" y="0"/>
                  </a:moveTo>
                  <a:lnTo>
                    <a:pt x="1666785" y="0"/>
                  </a:lnTo>
                  <a:lnTo>
                    <a:pt x="1666785" y="310147"/>
                  </a:lnTo>
                  <a:lnTo>
                    <a:pt x="0" y="310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666785" cy="367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6560546" y="1319634"/>
            <a:ext cx="5151398" cy="843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  <a:spcBef>
                <a:spcPct val="0"/>
              </a:spcBef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OBJECTIVES</a:t>
            </a:r>
          </a:p>
        </p:txBody>
      </p:sp>
      <p:sp>
        <p:nvSpPr>
          <p:cNvPr id="21" name="AutoShape 21"/>
          <p:cNvSpPr/>
          <p:nvPr/>
        </p:nvSpPr>
        <p:spPr>
          <a:xfrm>
            <a:off x="7891929" y="2865355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grpSp>
        <p:nvGrpSpPr>
          <p:cNvPr id="22" name="Group 22"/>
          <p:cNvGrpSpPr/>
          <p:nvPr/>
        </p:nvGrpSpPr>
        <p:grpSpPr>
          <a:xfrm>
            <a:off x="2238690" y="3523353"/>
            <a:ext cx="972766" cy="761320"/>
            <a:chOff x="0" y="0"/>
            <a:chExt cx="568927" cy="44526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68927" cy="445262"/>
            </a:xfrm>
            <a:custGeom>
              <a:avLst/>
              <a:gdLst/>
              <a:ahLst/>
              <a:cxnLst/>
              <a:rect l="l" t="t" r="r" b="b"/>
              <a:pathLst>
                <a:path w="568927" h="445262">
                  <a:moveTo>
                    <a:pt x="0" y="0"/>
                  </a:moveTo>
                  <a:lnTo>
                    <a:pt x="568927" y="0"/>
                  </a:lnTo>
                  <a:lnTo>
                    <a:pt x="568927" y="445262"/>
                  </a:lnTo>
                  <a:lnTo>
                    <a:pt x="0" y="445262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4" name="TextBox 24"/>
            <p:cNvSpPr txBox="1"/>
            <p:nvPr/>
          </p:nvSpPr>
          <p:spPr>
            <a:xfrm>
              <a:off x="0" y="-57150"/>
              <a:ext cx="568927" cy="502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238690" y="4762840"/>
            <a:ext cx="972766" cy="761320"/>
            <a:chOff x="0" y="0"/>
            <a:chExt cx="568927" cy="44526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68927" cy="445262"/>
            </a:xfrm>
            <a:custGeom>
              <a:avLst/>
              <a:gdLst/>
              <a:ahLst/>
              <a:cxnLst/>
              <a:rect l="l" t="t" r="r" b="b"/>
              <a:pathLst>
                <a:path w="568927" h="445262">
                  <a:moveTo>
                    <a:pt x="0" y="0"/>
                  </a:moveTo>
                  <a:lnTo>
                    <a:pt x="568927" y="0"/>
                  </a:lnTo>
                  <a:lnTo>
                    <a:pt x="568927" y="445262"/>
                  </a:lnTo>
                  <a:lnTo>
                    <a:pt x="0" y="445262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7" name="TextBox 27"/>
            <p:cNvSpPr txBox="1"/>
            <p:nvPr/>
          </p:nvSpPr>
          <p:spPr>
            <a:xfrm>
              <a:off x="0" y="-57150"/>
              <a:ext cx="568927" cy="502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157599" y="5886177"/>
            <a:ext cx="972766" cy="761320"/>
            <a:chOff x="0" y="0"/>
            <a:chExt cx="568927" cy="44526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68927" cy="445262"/>
            </a:xfrm>
            <a:custGeom>
              <a:avLst/>
              <a:gdLst/>
              <a:ahLst/>
              <a:cxnLst/>
              <a:rect l="l" t="t" r="r" b="b"/>
              <a:pathLst>
                <a:path w="568927" h="445262">
                  <a:moveTo>
                    <a:pt x="0" y="0"/>
                  </a:moveTo>
                  <a:lnTo>
                    <a:pt x="568927" y="0"/>
                  </a:lnTo>
                  <a:lnTo>
                    <a:pt x="568927" y="445262"/>
                  </a:lnTo>
                  <a:lnTo>
                    <a:pt x="0" y="445262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30" name="TextBox 30"/>
            <p:cNvSpPr txBox="1"/>
            <p:nvPr/>
          </p:nvSpPr>
          <p:spPr>
            <a:xfrm>
              <a:off x="0" y="-57150"/>
              <a:ext cx="568927" cy="502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316387" y="3643028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353590" y="4857986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353590" y="6038510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496626" y="6986273"/>
            <a:ext cx="12552684" cy="79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Prevent DML operation on weekdays/holidays with triggers</a:t>
            </a:r>
          </a:p>
          <a:p>
            <a:pPr algn="l">
              <a:lnSpc>
                <a:spcPts val="3220"/>
              </a:lnSpc>
              <a:spcBef>
                <a:spcPct val="0"/>
              </a:spcBef>
            </a:pPr>
            <a:endParaRPr lang="en-US" sz="2300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3560277" y="7823203"/>
            <a:ext cx="12552684" cy="79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Ensure accountability using audit logs</a:t>
            </a:r>
          </a:p>
          <a:p>
            <a:pPr algn="l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grpSp>
        <p:nvGrpSpPr>
          <p:cNvPr id="36" name="Group 36"/>
          <p:cNvGrpSpPr/>
          <p:nvPr/>
        </p:nvGrpSpPr>
        <p:grpSpPr>
          <a:xfrm>
            <a:off x="2195115" y="6728800"/>
            <a:ext cx="972766" cy="761320"/>
            <a:chOff x="0" y="0"/>
            <a:chExt cx="568927" cy="44526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68927" cy="445262"/>
            </a:xfrm>
            <a:custGeom>
              <a:avLst/>
              <a:gdLst/>
              <a:ahLst/>
              <a:cxnLst/>
              <a:rect l="l" t="t" r="r" b="b"/>
              <a:pathLst>
                <a:path w="568927" h="445262">
                  <a:moveTo>
                    <a:pt x="0" y="0"/>
                  </a:moveTo>
                  <a:lnTo>
                    <a:pt x="568927" y="0"/>
                  </a:lnTo>
                  <a:lnTo>
                    <a:pt x="568927" y="445262"/>
                  </a:lnTo>
                  <a:lnTo>
                    <a:pt x="0" y="445262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568927" cy="502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157599" y="7571422"/>
            <a:ext cx="972766" cy="761320"/>
            <a:chOff x="0" y="0"/>
            <a:chExt cx="568927" cy="44526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68927" cy="445262"/>
            </a:xfrm>
            <a:custGeom>
              <a:avLst/>
              <a:gdLst/>
              <a:ahLst/>
              <a:cxnLst/>
              <a:rect l="l" t="t" r="r" b="b"/>
              <a:pathLst>
                <a:path w="568927" h="445262">
                  <a:moveTo>
                    <a:pt x="0" y="0"/>
                  </a:moveTo>
                  <a:lnTo>
                    <a:pt x="568927" y="0"/>
                  </a:lnTo>
                  <a:lnTo>
                    <a:pt x="568927" y="445262"/>
                  </a:lnTo>
                  <a:lnTo>
                    <a:pt x="0" y="445262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568927" cy="502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2353590" y="6886695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353590" y="7727953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4926781" y="311813"/>
            <a:ext cx="8038274" cy="1954583"/>
            <a:chOff x="0" y="0"/>
            <a:chExt cx="2418988" cy="588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418988" cy="588200"/>
            </a:xfrm>
            <a:custGeom>
              <a:avLst/>
              <a:gdLst/>
              <a:ahLst/>
              <a:cxnLst/>
              <a:rect l="l" t="t" r="r" b="b"/>
              <a:pathLst>
                <a:path w="2418988" h="588200">
                  <a:moveTo>
                    <a:pt x="0" y="0"/>
                  </a:moveTo>
                  <a:lnTo>
                    <a:pt x="2418988" y="0"/>
                  </a:lnTo>
                  <a:lnTo>
                    <a:pt x="2418988" y="588200"/>
                  </a:lnTo>
                  <a:lnTo>
                    <a:pt x="0" y="588200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418988" cy="645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35497" y="2757666"/>
            <a:ext cx="8908666" cy="5442048"/>
            <a:chOff x="0" y="0"/>
            <a:chExt cx="1380185" cy="84311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80186" cy="843116"/>
            </a:xfrm>
            <a:custGeom>
              <a:avLst/>
              <a:gdLst/>
              <a:ahLst/>
              <a:cxnLst/>
              <a:rect l="l" t="t" r="r" b="b"/>
              <a:pathLst>
                <a:path w="1380186" h="843116">
                  <a:moveTo>
                    <a:pt x="0" y="0"/>
                  </a:moveTo>
                  <a:lnTo>
                    <a:pt x="1380186" y="0"/>
                  </a:lnTo>
                  <a:lnTo>
                    <a:pt x="1380186" y="843116"/>
                  </a:lnTo>
                  <a:lnTo>
                    <a:pt x="0" y="843116"/>
                  </a:lnTo>
                  <a:close/>
                </a:path>
              </a:pathLst>
            </a:custGeom>
            <a:blipFill>
              <a:blip r:embed="rId12"/>
              <a:stretch>
                <a:fillRect t="-7530" b="-7530"/>
              </a:stretch>
            </a:blipFill>
          </p:spPr>
        </p:sp>
      </p:grpSp>
      <p:sp>
        <p:nvSpPr>
          <p:cNvPr id="19" name="TextBox 19"/>
          <p:cNvSpPr txBox="1"/>
          <p:nvPr/>
        </p:nvSpPr>
        <p:spPr>
          <a:xfrm>
            <a:off x="1256644" y="2920055"/>
            <a:ext cx="6627531" cy="3999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Actors: Customer, System, Admin, Finance, Delivery, Audit Log</a:t>
            </a:r>
          </a:p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Steps: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Customer browses and places order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System checks stock, creates order and items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Admin reviews and confirms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Finance validates payment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Delivery dispatches order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Audit trigger logs restricted actions</a:t>
            </a:r>
          </a:p>
          <a:p>
            <a:pPr algn="ctr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4926781" y="405468"/>
            <a:ext cx="8011129" cy="1705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  <a:spcBef>
                <a:spcPct val="0"/>
              </a:spcBef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SYSTEM WORKFLOW (BPMN OVERVIEW)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721315" y="7464100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7394612" y="5381300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4926781" y="311813"/>
            <a:ext cx="8038274" cy="1954583"/>
            <a:chOff x="0" y="0"/>
            <a:chExt cx="2418988" cy="588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18988" cy="588200"/>
            </a:xfrm>
            <a:custGeom>
              <a:avLst/>
              <a:gdLst/>
              <a:ahLst/>
              <a:cxnLst/>
              <a:rect l="l" t="t" r="r" b="b"/>
              <a:pathLst>
                <a:path w="2418988" h="588200">
                  <a:moveTo>
                    <a:pt x="0" y="0"/>
                  </a:moveTo>
                  <a:lnTo>
                    <a:pt x="2418988" y="0"/>
                  </a:lnTo>
                  <a:lnTo>
                    <a:pt x="2418988" y="588200"/>
                  </a:lnTo>
                  <a:lnTo>
                    <a:pt x="0" y="588200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2418988" cy="645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250766" y="2476825"/>
            <a:ext cx="12018464" cy="5722889"/>
            <a:chOff x="0" y="0"/>
            <a:chExt cx="1861975" cy="84311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861975" cy="843116"/>
            </a:xfrm>
            <a:custGeom>
              <a:avLst/>
              <a:gdLst/>
              <a:ahLst/>
              <a:cxnLst/>
              <a:rect l="l" t="t" r="r" b="b"/>
              <a:pathLst>
                <a:path w="1861975" h="843116">
                  <a:moveTo>
                    <a:pt x="0" y="0"/>
                  </a:moveTo>
                  <a:lnTo>
                    <a:pt x="1861975" y="0"/>
                  </a:lnTo>
                  <a:lnTo>
                    <a:pt x="1861975" y="843116"/>
                  </a:lnTo>
                  <a:lnTo>
                    <a:pt x="0" y="843116"/>
                  </a:lnTo>
                  <a:close/>
                </a:path>
              </a:pathLst>
            </a:custGeom>
            <a:blipFill>
              <a:blip r:embed="rId12"/>
              <a:stretch>
                <a:fillRect l="-413" r="-413"/>
              </a:stretch>
            </a:blipFill>
          </p:spPr>
        </p:sp>
      </p:grpSp>
      <p:sp>
        <p:nvSpPr>
          <p:cNvPr id="18" name="TextBox 18"/>
          <p:cNvSpPr txBox="1"/>
          <p:nvPr/>
        </p:nvSpPr>
        <p:spPr>
          <a:xfrm>
            <a:off x="238222" y="3239094"/>
            <a:ext cx="6012544" cy="3599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Entities: Customer, Product, Category, Orders, OrderItem, Payment, Delivery, Holiday, Audit_Log</a:t>
            </a:r>
          </a:p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Key Relationships: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Customer → Orders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Orders → OrderItem → Product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Orders → Payment → Delivery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Holiday → Audit_Trigger</a:t>
            </a:r>
          </a:p>
          <a:p>
            <a:pPr algn="ctr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926781" y="405468"/>
            <a:ext cx="8011129" cy="1705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  <a:spcBef>
                <a:spcPct val="0"/>
              </a:spcBef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DATABASE DESIGN (ERD SUMMARY)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909766" y="3429594"/>
            <a:ext cx="9739433" cy="3664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Procedure: </a:t>
            </a:r>
            <a:r>
              <a:rPr lang="en-US" sz="2300" dirty="0" err="1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Place_Order</a:t>
            </a:r>
            <a:endParaRPr lang="en-US" sz="2300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Function: </a:t>
            </a:r>
            <a:r>
              <a:rPr lang="en-US" sz="2300" dirty="0" err="1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Get_Total_Spent_By_Customer</a:t>
            </a:r>
            <a:endParaRPr lang="en-US" sz="2300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Cursor: </a:t>
            </a:r>
            <a:r>
              <a:rPr lang="en-US" sz="2300" dirty="0" err="1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Get_Pending_Orders</a:t>
            </a: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using REF CURSOR</a:t>
            </a: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Trigger: Prevents Product DML on weekdays and Public holidays</a:t>
            </a: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Audit Table: Logs restricted activity</a:t>
            </a: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Package: </a:t>
            </a:r>
            <a:r>
              <a:rPr lang="en-US" sz="2300" dirty="0" err="1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ecommerce_pkg</a:t>
            </a: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groups all logic including functions and procedure</a:t>
            </a:r>
          </a:p>
          <a:p>
            <a:pPr algn="l">
              <a:lnSpc>
                <a:spcPts val="3220"/>
              </a:lnSpc>
            </a:pPr>
            <a:endParaRPr lang="en-US" sz="2300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l">
              <a:lnSpc>
                <a:spcPts val="3220"/>
              </a:lnSpc>
              <a:spcBef>
                <a:spcPct val="0"/>
              </a:spcBef>
            </a:pPr>
            <a:endParaRPr lang="en-US" sz="2300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3795119" y="1241246"/>
            <a:ext cx="10542476" cy="1030616"/>
            <a:chOff x="0" y="0"/>
            <a:chExt cx="3172587" cy="31014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172587" cy="310147"/>
            </a:xfrm>
            <a:custGeom>
              <a:avLst/>
              <a:gdLst/>
              <a:ahLst/>
              <a:cxnLst/>
              <a:rect l="l" t="t" r="r" b="b"/>
              <a:pathLst>
                <a:path w="3172587" h="310147">
                  <a:moveTo>
                    <a:pt x="0" y="0"/>
                  </a:moveTo>
                  <a:lnTo>
                    <a:pt x="3172587" y="0"/>
                  </a:lnTo>
                  <a:lnTo>
                    <a:pt x="3172587" y="310147"/>
                  </a:lnTo>
                  <a:lnTo>
                    <a:pt x="0" y="310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172587" cy="367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18" name="AutoShape 18"/>
          <p:cNvSpPr/>
          <p:nvPr/>
        </p:nvSpPr>
        <p:spPr>
          <a:xfrm>
            <a:off x="7891929" y="2865355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19" name="AutoShape 19"/>
          <p:cNvSpPr/>
          <p:nvPr/>
        </p:nvSpPr>
        <p:spPr>
          <a:xfrm>
            <a:off x="7884175" y="8323822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20" name="TextBox 20"/>
          <p:cNvSpPr txBox="1"/>
          <p:nvPr/>
        </p:nvSpPr>
        <p:spPr>
          <a:xfrm>
            <a:off x="3795119" y="1288702"/>
            <a:ext cx="9875150" cy="843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  <a:spcBef>
                <a:spcPct val="0"/>
              </a:spcBef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PL/SQL OBJECTS IMPLEMENTED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1865065" y="4393252"/>
            <a:ext cx="5729748" cy="3408933"/>
            <a:chOff x="0" y="0"/>
            <a:chExt cx="1509069" cy="89782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09069" cy="897826"/>
            </a:xfrm>
            <a:custGeom>
              <a:avLst/>
              <a:gdLst/>
              <a:ahLst/>
              <a:cxnLst/>
              <a:rect l="l" t="t" r="r" b="b"/>
              <a:pathLst>
                <a:path w="1509069" h="897826">
                  <a:moveTo>
                    <a:pt x="0" y="0"/>
                  </a:moveTo>
                  <a:lnTo>
                    <a:pt x="1509069" y="0"/>
                  </a:lnTo>
                  <a:lnTo>
                    <a:pt x="1509069" y="897826"/>
                  </a:lnTo>
                  <a:lnTo>
                    <a:pt x="0" y="8978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509069" cy="9549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605791" y="1241246"/>
            <a:ext cx="10085094" cy="1030616"/>
            <a:chOff x="0" y="0"/>
            <a:chExt cx="3034946" cy="31014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034946" cy="310147"/>
            </a:xfrm>
            <a:custGeom>
              <a:avLst/>
              <a:gdLst/>
              <a:ahLst/>
              <a:cxnLst/>
              <a:rect l="l" t="t" r="r" b="b"/>
              <a:pathLst>
                <a:path w="3034946" h="310147">
                  <a:moveTo>
                    <a:pt x="0" y="0"/>
                  </a:moveTo>
                  <a:lnTo>
                    <a:pt x="3034946" y="0"/>
                  </a:lnTo>
                  <a:lnTo>
                    <a:pt x="3034946" y="310147"/>
                  </a:lnTo>
                  <a:lnTo>
                    <a:pt x="0" y="310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034946" cy="367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5000695" y="1312252"/>
            <a:ext cx="9669447" cy="1641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BUSINESS RULE ENFORCEMENT</a:t>
            </a:r>
          </a:p>
          <a:p>
            <a:pPr algn="ctr">
              <a:lnSpc>
                <a:spcPts val="6320"/>
              </a:lnSpc>
              <a:spcBef>
                <a:spcPct val="0"/>
              </a:spcBef>
            </a:pPr>
            <a:endParaRPr lang="en-US" sz="4514" b="1">
              <a:solidFill>
                <a:srgbClr val="FFFFFF"/>
              </a:solidFill>
              <a:latin typeface="Helvetica World Bold"/>
              <a:ea typeface="Helvetica World Bold"/>
              <a:cs typeface="Helvetica World Bold"/>
              <a:sym typeface="Helvetica World Bold"/>
            </a:endParaRPr>
          </a:p>
        </p:txBody>
      </p:sp>
      <p:grpSp>
        <p:nvGrpSpPr>
          <p:cNvPr id="21" name="Group 21"/>
          <p:cNvGrpSpPr/>
          <p:nvPr/>
        </p:nvGrpSpPr>
        <p:grpSpPr>
          <a:xfrm>
            <a:off x="936307" y="2962869"/>
            <a:ext cx="7587264" cy="1304789"/>
            <a:chOff x="0" y="0"/>
            <a:chExt cx="4437449" cy="76311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437449" cy="763112"/>
            </a:xfrm>
            <a:custGeom>
              <a:avLst/>
              <a:gdLst/>
              <a:ahLst/>
              <a:cxnLst/>
              <a:rect l="l" t="t" r="r" b="b"/>
              <a:pathLst>
                <a:path w="4437449" h="763112">
                  <a:moveTo>
                    <a:pt x="0" y="0"/>
                  </a:moveTo>
                  <a:lnTo>
                    <a:pt x="4437449" y="0"/>
                  </a:lnTo>
                  <a:lnTo>
                    <a:pt x="4437449" y="763112"/>
                  </a:lnTo>
                  <a:lnTo>
                    <a:pt x="0" y="763112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4437449" cy="8202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2071148" y="4905833"/>
            <a:ext cx="4956960" cy="2399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Restricts product modifications:</a:t>
            </a:r>
          </a:p>
          <a:p>
            <a:pPr marL="993141" lvl="2" indent="-331047" algn="ctr">
              <a:lnSpc>
                <a:spcPts val="3220"/>
              </a:lnSpc>
              <a:buFont typeface="Arial"/>
              <a:buChar char="⚬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Blocks DML on weekdays</a:t>
            </a:r>
          </a:p>
          <a:p>
            <a:pPr marL="993141" lvl="2" indent="-331047" algn="ctr">
              <a:lnSpc>
                <a:spcPts val="3220"/>
              </a:lnSpc>
              <a:buFont typeface="Arial"/>
              <a:buChar char="⚬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Blocks DML on holidays (checks Holiday table)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Logs attempts in Audit_Log</a:t>
            </a:r>
          </a:p>
          <a:p>
            <a:pPr algn="ctr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078086" y="3208022"/>
            <a:ext cx="7303705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TRIGGER: TRG_RESTRICT_P</a:t>
            </a:r>
            <a:r>
              <a:rPr lang="en-US" sz="2700" b="1" u="none" strike="noStrike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RODUCT_DML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F66F40F-3319-B5D2-8918-EF1A77F67B3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5393" y="2962870"/>
            <a:ext cx="7587264" cy="7417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1865065" y="4393252"/>
            <a:ext cx="6009287" cy="4135736"/>
            <a:chOff x="0" y="0"/>
            <a:chExt cx="1582693" cy="108924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82693" cy="1089247"/>
            </a:xfrm>
            <a:custGeom>
              <a:avLst/>
              <a:gdLst/>
              <a:ahLst/>
              <a:cxnLst/>
              <a:rect l="l" t="t" r="r" b="b"/>
              <a:pathLst>
                <a:path w="1582693" h="1089247">
                  <a:moveTo>
                    <a:pt x="0" y="0"/>
                  </a:moveTo>
                  <a:lnTo>
                    <a:pt x="1582693" y="0"/>
                  </a:lnTo>
                  <a:lnTo>
                    <a:pt x="1582693" y="1089247"/>
                  </a:lnTo>
                  <a:lnTo>
                    <a:pt x="0" y="1089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582693" cy="1146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605791" y="1241246"/>
            <a:ext cx="10085094" cy="1030616"/>
            <a:chOff x="0" y="0"/>
            <a:chExt cx="3034946" cy="31014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034946" cy="310147"/>
            </a:xfrm>
            <a:custGeom>
              <a:avLst/>
              <a:gdLst/>
              <a:ahLst/>
              <a:cxnLst/>
              <a:rect l="l" t="t" r="r" b="b"/>
              <a:pathLst>
                <a:path w="3034946" h="310147">
                  <a:moveTo>
                    <a:pt x="0" y="0"/>
                  </a:moveTo>
                  <a:lnTo>
                    <a:pt x="3034946" y="0"/>
                  </a:lnTo>
                  <a:lnTo>
                    <a:pt x="3034946" y="310147"/>
                  </a:lnTo>
                  <a:lnTo>
                    <a:pt x="0" y="310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034946" cy="367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5000695" y="1312252"/>
            <a:ext cx="9669447" cy="843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  <a:spcBef>
                <a:spcPct val="0"/>
              </a:spcBef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AUDIT LOGGING SYSTEM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36307" y="2962869"/>
            <a:ext cx="7587264" cy="1304789"/>
            <a:chOff x="0" y="0"/>
            <a:chExt cx="4437449" cy="76311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437449" cy="763112"/>
            </a:xfrm>
            <a:custGeom>
              <a:avLst/>
              <a:gdLst/>
              <a:ahLst/>
              <a:cxnLst/>
              <a:rect l="l" t="t" r="r" b="b"/>
              <a:pathLst>
                <a:path w="4437449" h="763112">
                  <a:moveTo>
                    <a:pt x="0" y="0"/>
                  </a:moveTo>
                  <a:lnTo>
                    <a:pt x="4437449" y="0"/>
                  </a:lnTo>
                  <a:lnTo>
                    <a:pt x="4437449" y="763112"/>
                  </a:lnTo>
                  <a:lnTo>
                    <a:pt x="0" y="763112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4437449" cy="8202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892453" y="3013788"/>
            <a:ext cx="7865105" cy="5246370"/>
            <a:chOff x="0" y="0"/>
            <a:chExt cx="1218511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8511" cy="812800"/>
            </a:xfrm>
            <a:custGeom>
              <a:avLst/>
              <a:gdLst/>
              <a:ahLst/>
              <a:cxnLst/>
              <a:rect l="l" t="t" r="r" b="b"/>
              <a:pathLst>
                <a:path w="1218511" h="812800">
                  <a:moveTo>
                    <a:pt x="0" y="0"/>
                  </a:moveTo>
                  <a:lnTo>
                    <a:pt x="1218511" y="0"/>
                  </a:lnTo>
                  <a:lnTo>
                    <a:pt x="1218511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2"/>
              <a:stretch>
                <a:fillRect l="-11974" r="-11974"/>
              </a:stretch>
            </a:blipFill>
          </p:spPr>
        </p:sp>
      </p:grpSp>
      <p:sp>
        <p:nvSpPr>
          <p:cNvPr id="26" name="TextBox 26"/>
          <p:cNvSpPr txBox="1"/>
          <p:nvPr/>
        </p:nvSpPr>
        <p:spPr>
          <a:xfrm>
            <a:off x="2071148" y="4905833"/>
            <a:ext cx="4956960" cy="319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Audit_Log tracks: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User ID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Timestamp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Table affected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Operation type (INSERT/UPDATE/DELETE)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Status (Allowed/Denied)</a:t>
            </a:r>
          </a:p>
          <a:p>
            <a:pPr algn="ctr">
              <a:lnSpc>
                <a:spcPts val="3220"/>
              </a:lnSpc>
              <a:spcBef>
                <a:spcPct val="0"/>
              </a:spcBef>
            </a:pPr>
            <a:endParaRPr lang="en-US" sz="230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078086" y="3208022"/>
            <a:ext cx="7303705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SECURITY &amp; C</a:t>
            </a:r>
            <a:r>
              <a:rPr lang="en-US" sz="2700" b="1" u="none" strike="noStrike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OMPLIANCE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2342312" y="3729248"/>
            <a:ext cx="4410488" cy="1899374"/>
            <a:chOff x="0" y="0"/>
            <a:chExt cx="1161610" cy="50024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61610" cy="500247"/>
            </a:xfrm>
            <a:custGeom>
              <a:avLst/>
              <a:gdLst/>
              <a:ahLst/>
              <a:cxnLst/>
              <a:rect l="l" t="t" r="r" b="b"/>
              <a:pathLst>
                <a:path w="1161610" h="500247">
                  <a:moveTo>
                    <a:pt x="0" y="0"/>
                  </a:moveTo>
                  <a:lnTo>
                    <a:pt x="1161610" y="0"/>
                  </a:lnTo>
                  <a:lnTo>
                    <a:pt x="1161610" y="500247"/>
                  </a:lnTo>
                  <a:lnTo>
                    <a:pt x="0" y="500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161610" cy="557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535201" y="3729248"/>
            <a:ext cx="4410488" cy="1899374"/>
            <a:chOff x="0" y="0"/>
            <a:chExt cx="1161610" cy="50024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61610" cy="500247"/>
            </a:xfrm>
            <a:custGeom>
              <a:avLst/>
              <a:gdLst/>
              <a:ahLst/>
              <a:cxnLst/>
              <a:rect l="l" t="t" r="r" b="b"/>
              <a:pathLst>
                <a:path w="1161610" h="500247">
                  <a:moveTo>
                    <a:pt x="0" y="0"/>
                  </a:moveTo>
                  <a:lnTo>
                    <a:pt x="1161610" y="0"/>
                  </a:lnTo>
                  <a:lnTo>
                    <a:pt x="1161610" y="500247"/>
                  </a:lnTo>
                  <a:lnTo>
                    <a:pt x="0" y="500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161610" cy="557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938756" y="3729248"/>
            <a:ext cx="4410488" cy="1899374"/>
            <a:chOff x="0" y="0"/>
            <a:chExt cx="1161610" cy="50024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61610" cy="500247"/>
            </a:xfrm>
            <a:custGeom>
              <a:avLst/>
              <a:gdLst/>
              <a:ahLst/>
              <a:cxnLst/>
              <a:rect l="l" t="t" r="r" b="b"/>
              <a:pathLst>
                <a:path w="1161610" h="500247">
                  <a:moveTo>
                    <a:pt x="0" y="0"/>
                  </a:moveTo>
                  <a:lnTo>
                    <a:pt x="1161610" y="0"/>
                  </a:lnTo>
                  <a:lnTo>
                    <a:pt x="1161610" y="500247"/>
                  </a:lnTo>
                  <a:lnTo>
                    <a:pt x="0" y="500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161610" cy="557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614273" y="4200507"/>
            <a:ext cx="3866565" cy="79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Modular PL/SQL package architecture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98419" y="4200507"/>
            <a:ext cx="3866565" cy="79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Transaction safety (COMMIT/ROLLBACK)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07162" y="4200507"/>
            <a:ext cx="3866565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Real-world business rules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263194" y="1235177"/>
            <a:ext cx="8250245" cy="1030616"/>
            <a:chOff x="0" y="0"/>
            <a:chExt cx="2482777" cy="31014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482778" cy="310147"/>
            </a:xfrm>
            <a:custGeom>
              <a:avLst/>
              <a:gdLst/>
              <a:ahLst/>
              <a:cxnLst/>
              <a:rect l="l" t="t" r="r" b="b"/>
              <a:pathLst>
                <a:path w="2482778" h="310147">
                  <a:moveTo>
                    <a:pt x="0" y="0"/>
                  </a:moveTo>
                  <a:lnTo>
                    <a:pt x="2482778" y="0"/>
                  </a:lnTo>
                  <a:lnTo>
                    <a:pt x="2482778" y="310147"/>
                  </a:lnTo>
                  <a:lnTo>
                    <a:pt x="0" y="310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2482777" cy="367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560546" y="1319634"/>
            <a:ext cx="8056588" cy="1641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KEY STRENGTHS</a:t>
            </a:r>
          </a:p>
          <a:p>
            <a:pPr algn="ctr">
              <a:lnSpc>
                <a:spcPts val="6320"/>
              </a:lnSpc>
              <a:spcBef>
                <a:spcPct val="0"/>
              </a:spcBef>
            </a:pPr>
            <a:endParaRPr lang="en-US" sz="4514" b="1">
              <a:solidFill>
                <a:srgbClr val="FFFFFF"/>
              </a:solidFill>
              <a:latin typeface="Helvetica World Bold"/>
              <a:ea typeface="Helvetica World Bold"/>
              <a:cs typeface="Helvetica World Bold"/>
              <a:sym typeface="Helvetica World Bold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7891929" y="2865355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31" name="AutoShape 31"/>
          <p:cNvSpPr/>
          <p:nvPr/>
        </p:nvSpPr>
        <p:spPr>
          <a:xfrm>
            <a:off x="7884175" y="8823396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grpSp>
        <p:nvGrpSpPr>
          <p:cNvPr id="32" name="Group 32"/>
          <p:cNvGrpSpPr/>
          <p:nvPr/>
        </p:nvGrpSpPr>
        <p:grpSpPr>
          <a:xfrm>
            <a:off x="4061173" y="3430149"/>
            <a:ext cx="972766" cy="598197"/>
            <a:chOff x="0" y="0"/>
            <a:chExt cx="568927" cy="34985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68927" cy="349858"/>
            </a:xfrm>
            <a:custGeom>
              <a:avLst/>
              <a:gdLst/>
              <a:ahLst/>
              <a:cxnLst/>
              <a:rect l="l" t="t" r="r" b="b"/>
              <a:pathLst>
                <a:path w="568927" h="349858">
                  <a:moveTo>
                    <a:pt x="0" y="0"/>
                  </a:moveTo>
                  <a:lnTo>
                    <a:pt x="568927" y="0"/>
                  </a:lnTo>
                  <a:lnTo>
                    <a:pt x="568927" y="349858"/>
                  </a:lnTo>
                  <a:lnTo>
                    <a:pt x="0" y="349858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34" name="TextBox 34"/>
            <p:cNvSpPr txBox="1"/>
            <p:nvPr/>
          </p:nvSpPr>
          <p:spPr>
            <a:xfrm>
              <a:off x="0" y="-57150"/>
              <a:ext cx="568927" cy="4070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254244" y="3430149"/>
            <a:ext cx="972766" cy="598197"/>
            <a:chOff x="0" y="0"/>
            <a:chExt cx="568927" cy="34985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68927" cy="349858"/>
            </a:xfrm>
            <a:custGeom>
              <a:avLst/>
              <a:gdLst/>
              <a:ahLst/>
              <a:cxnLst/>
              <a:rect l="l" t="t" r="r" b="b"/>
              <a:pathLst>
                <a:path w="568927" h="349858">
                  <a:moveTo>
                    <a:pt x="0" y="0"/>
                  </a:moveTo>
                  <a:lnTo>
                    <a:pt x="568927" y="0"/>
                  </a:lnTo>
                  <a:lnTo>
                    <a:pt x="568927" y="349858"/>
                  </a:lnTo>
                  <a:lnTo>
                    <a:pt x="0" y="349858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568927" cy="4070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8657617" y="3430149"/>
            <a:ext cx="972766" cy="598197"/>
            <a:chOff x="0" y="0"/>
            <a:chExt cx="568927" cy="34985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68927" cy="349858"/>
            </a:xfrm>
            <a:custGeom>
              <a:avLst/>
              <a:gdLst/>
              <a:ahLst/>
              <a:cxnLst/>
              <a:rect l="l" t="t" r="r" b="b"/>
              <a:pathLst>
                <a:path w="568927" h="349858">
                  <a:moveTo>
                    <a:pt x="0" y="0"/>
                  </a:moveTo>
                  <a:lnTo>
                    <a:pt x="568927" y="0"/>
                  </a:lnTo>
                  <a:lnTo>
                    <a:pt x="568927" y="349858"/>
                  </a:lnTo>
                  <a:lnTo>
                    <a:pt x="0" y="349858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568927" cy="4070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4138869" y="3468263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01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723016" y="3468263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331758" y="3468263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03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2337768" y="6409082"/>
            <a:ext cx="4410488" cy="1899374"/>
            <a:chOff x="0" y="0"/>
            <a:chExt cx="1161610" cy="500247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161610" cy="500247"/>
            </a:xfrm>
            <a:custGeom>
              <a:avLst/>
              <a:gdLst/>
              <a:ahLst/>
              <a:cxnLst/>
              <a:rect l="l" t="t" r="r" b="b"/>
              <a:pathLst>
                <a:path w="1161610" h="500247">
                  <a:moveTo>
                    <a:pt x="0" y="0"/>
                  </a:moveTo>
                  <a:lnTo>
                    <a:pt x="1161610" y="0"/>
                  </a:lnTo>
                  <a:lnTo>
                    <a:pt x="1161610" y="500247"/>
                  </a:lnTo>
                  <a:lnTo>
                    <a:pt x="0" y="500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0" y="-57150"/>
              <a:ext cx="1161610" cy="557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3980394" y="6109983"/>
            <a:ext cx="972766" cy="598197"/>
            <a:chOff x="0" y="0"/>
            <a:chExt cx="568927" cy="349858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68927" cy="349858"/>
            </a:xfrm>
            <a:custGeom>
              <a:avLst/>
              <a:gdLst/>
              <a:ahLst/>
              <a:cxnLst/>
              <a:rect l="l" t="t" r="r" b="b"/>
              <a:pathLst>
                <a:path w="568927" h="349858">
                  <a:moveTo>
                    <a:pt x="0" y="0"/>
                  </a:moveTo>
                  <a:lnTo>
                    <a:pt x="568927" y="0"/>
                  </a:lnTo>
                  <a:lnTo>
                    <a:pt x="568927" y="349858"/>
                  </a:lnTo>
                  <a:lnTo>
                    <a:pt x="0" y="349858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568927" cy="4070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4135867" y="6129047"/>
            <a:ext cx="814291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04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6938756" y="6400147"/>
            <a:ext cx="4410488" cy="1899374"/>
            <a:chOff x="0" y="0"/>
            <a:chExt cx="1161610" cy="500247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161610" cy="500247"/>
            </a:xfrm>
            <a:custGeom>
              <a:avLst/>
              <a:gdLst/>
              <a:ahLst/>
              <a:cxnLst/>
              <a:rect l="l" t="t" r="r" b="b"/>
              <a:pathLst>
                <a:path w="1161610" h="500247">
                  <a:moveTo>
                    <a:pt x="0" y="0"/>
                  </a:moveTo>
                  <a:lnTo>
                    <a:pt x="1161610" y="0"/>
                  </a:lnTo>
                  <a:lnTo>
                    <a:pt x="1161610" y="500247"/>
                  </a:lnTo>
                  <a:lnTo>
                    <a:pt x="0" y="500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0" y="-57150"/>
              <a:ext cx="1161610" cy="557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8657617" y="6171547"/>
            <a:ext cx="972766" cy="598197"/>
            <a:chOff x="0" y="0"/>
            <a:chExt cx="568927" cy="34985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568927" cy="349858"/>
            </a:xfrm>
            <a:custGeom>
              <a:avLst/>
              <a:gdLst/>
              <a:ahLst/>
              <a:cxnLst/>
              <a:rect l="l" t="t" r="r" b="b"/>
              <a:pathLst>
                <a:path w="568927" h="349858">
                  <a:moveTo>
                    <a:pt x="0" y="0"/>
                  </a:moveTo>
                  <a:lnTo>
                    <a:pt x="568927" y="0"/>
                  </a:lnTo>
                  <a:lnTo>
                    <a:pt x="568927" y="349858"/>
                  </a:lnTo>
                  <a:lnTo>
                    <a:pt x="0" y="349858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6" name="TextBox 56"/>
            <p:cNvSpPr txBox="1"/>
            <p:nvPr/>
          </p:nvSpPr>
          <p:spPr>
            <a:xfrm>
              <a:off x="0" y="-57150"/>
              <a:ext cx="568927" cy="4070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8723016" y="6171547"/>
            <a:ext cx="814291" cy="440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05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533495" y="6936780"/>
            <a:ext cx="3866565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Comprehensive audit trail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210717" y="6941194"/>
            <a:ext cx="3866565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Sample queries for testing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2587" y="7414263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70"/>
                </a:lnTo>
                <a:lnTo>
                  <a:pt x="0" y="3075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-198113" y="-375135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18901" y="7920577"/>
            <a:ext cx="2450523" cy="2450523"/>
          </a:xfrm>
          <a:custGeom>
            <a:avLst/>
            <a:gdLst/>
            <a:ahLst/>
            <a:cxnLst/>
            <a:rect l="l" t="t" r="r" b="b"/>
            <a:pathLst>
              <a:path w="2450523" h="2450523">
                <a:moveTo>
                  <a:pt x="0" y="0"/>
                </a:moveTo>
                <a:lnTo>
                  <a:pt x="2450523" y="0"/>
                </a:lnTo>
                <a:lnTo>
                  <a:pt x="2450523" y="2450523"/>
                </a:lnTo>
                <a:lnTo>
                  <a:pt x="0" y="24505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69201" y="-246222"/>
            <a:ext cx="2651689" cy="2651689"/>
          </a:xfrm>
          <a:custGeom>
            <a:avLst/>
            <a:gdLst/>
            <a:ahLst/>
            <a:cxnLst/>
            <a:rect l="l" t="t" r="r" b="b"/>
            <a:pathLst>
              <a:path w="2651689" h="2651689">
                <a:moveTo>
                  <a:pt x="0" y="0"/>
                </a:moveTo>
                <a:lnTo>
                  <a:pt x="2651689" y="0"/>
                </a:lnTo>
                <a:lnTo>
                  <a:pt x="2651689" y="2651688"/>
                </a:lnTo>
                <a:lnTo>
                  <a:pt x="0" y="2651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700000">
            <a:off x="16750015" y="5360938"/>
            <a:ext cx="3075969" cy="3075969"/>
          </a:xfrm>
          <a:custGeom>
            <a:avLst/>
            <a:gdLst/>
            <a:ahLst/>
            <a:cxnLst/>
            <a:rect l="l" t="t" r="r" b="b"/>
            <a:pathLst>
              <a:path w="3075969" h="3075969">
                <a:moveTo>
                  <a:pt x="0" y="0"/>
                </a:moveTo>
                <a:lnTo>
                  <a:pt x="3075970" y="0"/>
                </a:lnTo>
                <a:lnTo>
                  <a:pt x="3075970" y="3075969"/>
                </a:lnTo>
                <a:lnTo>
                  <a:pt x="0" y="30759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100000">
            <a:off x="-1664239" y="1924527"/>
            <a:ext cx="3328479" cy="3328479"/>
          </a:xfrm>
          <a:custGeom>
            <a:avLst/>
            <a:gdLst/>
            <a:ahLst/>
            <a:cxnLst/>
            <a:rect l="l" t="t" r="r" b="b"/>
            <a:pathLst>
              <a:path w="3328479" h="3328479">
                <a:moveTo>
                  <a:pt x="0" y="0"/>
                </a:moveTo>
                <a:lnTo>
                  <a:pt x="3328478" y="0"/>
                </a:lnTo>
                <a:lnTo>
                  <a:pt x="3328478" y="3328479"/>
                </a:lnTo>
                <a:lnTo>
                  <a:pt x="0" y="33284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440198" y="9460152"/>
            <a:ext cx="1658065" cy="1639977"/>
          </a:xfrm>
          <a:custGeom>
            <a:avLst/>
            <a:gdLst/>
            <a:ahLst/>
            <a:cxnLst/>
            <a:rect l="l" t="t" r="r" b="b"/>
            <a:pathLst>
              <a:path w="1658065" h="1639977">
                <a:moveTo>
                  <a:pt x="0" y="0"/>
                </a:moveTo>
                <a:lnTo>
                  <a:pt x="1658065" y="0"/>
                </a:lnTo>
                <a:lnTo>
                  <a:pt x="1658065" y="1639977"/>
                </a:lnTo>
                <a:lnTo>
                  <a:pt x="0" y="16399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857871" y="-1035099"/>
            <a:ext cx="1794177" cy="1774605"/>
          </a:xfrm>
          <a:custGeom>
            <a:avLst/>
            <a:gdLst/>
            <a:ahLst/>
            <a:cxnLst/>
            <a:rect l="l" t="t" r="r" b="b"/>
            <a:pathLst>
              <a:path w="1794177" h="1774605">
                <a:moveTo>
                  <a:pt x="0" y="0"/>
                </a:moveTo>
                <a:lnTo>
                  <a:pt x="1794178" y="0"/>
                </a:lnTo>
                <a:lnTo>
                  <a:pt x="1794178" y="1774605"/>
                </a:lnTo>
                <a:lnTo>
                  <a:pt x="0" y="17746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757558" y="9002084"/>
            <a:ext cx="1180071" cy="143754"/>
          </a:xfrm>
          <a:custGeom>
            <a:avLst/>
            <a:gdLst/>
            <a:ahLst/>
            <a:cxnLst/>
            <a:rect l="l" t="t" r="r" b="b"/>
            <a:pathLst>
              <a:path w="1180071" h="143754">
                <a:moveTo>
                  <a:pt x="0" y="0"/>
                </a:moveTo>
                <a:lnTo>
                  <a:pt x="1180071" y="0"/>
                </a:lnTo>
                <a:lnTo>
                  <a:pt x="1180071" y="143754"/>
                </a:lnTo>
                <a:lnTo>
                  <a:pt x="0" y="1437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0800000">
            <a:off x="398041" y="1079622"/>
            <a:ext cx="1276944" cy="155555"/>
          </a:xfrm>
          <a:custGeom>
            <a:avLst/>
            <a:gdLst/>
            <a:ahLst/>
            <a:cxnLst/>
            <a:rect l="l" t="t" r="r" b="b"/>
            <a:pathLst>
              <a:path w="1276944" h="155555">
                <a:moveTo>
                  <a:pt x="0" y="0"/>
                </a:moveTo>
                <a:lnTo>
                  <a:pt x="1276944" y="0"/>
                </a:lnTo>
                <a:lnTo>
                  <a:pt x="1276944" y="155555"/>
                </a:lnTo>
                <a:lnTo>
                  <a:pt x="0" y="15555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8447" y="9343447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0" y="0"/>
                </a:moveTo>
                <a:lnTo>
                  <a:pt x="1432701" y="0"/>
                </a:lnTo>
                <a:lnTo>
                  <a:pt x="1432701" y="442835"/>
                </a:lnTo>
                <a:lnTo>
                  <a:pt x="0" y="442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flipH="1">
            <a:off x="16216852" y="500718"/>
            <a:ext cx="1432702" cy="442835"/>
          </a:xfrm>
          <a:custGeom>
            <a:avLst/>
            <a:gdLst/>
            <a:ahLst/>
            <a:cxnLst/>
            <a:rect l="l" t="t" r="r" b="b"/>
            <a:pathLst>
              <a:path w="1432702" h="442835">
                <a:moveTo>
                  <a:pt x="1432701" y="0"/>
                </a:moveTo>
                <a:lnTo>
                  <a:pt x="0" y="0"/>
                </a:lnTo>
                <a:lnTo>
                  <a:pt x="0" y="442835"/>
                </a:lnTo>
                <a:lnTo>
                  <a:pt x="1432701" y="442835"/>
                </a:lnTo>
                <a:lnTo>
                  <a:pt x="143270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2342312" y="3729248"/>
            <a:ext cx="4410488" cy="3169675"/>
            <a:chOff x="0" y="0"/>
            <a:chExt cx="1161610" cy="83481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61610" cy="834812"/>
            </a:xfrm>
            <a:custGeom>
              <a:avLst/>
              <a:gdLst/>
              <a:ahLst/>
              <a:cxnLst/>
              <a:rect l="l" t="t" r="r" b="b"/>
              <a:pathLst>
                <a:path w="1161610" h="834812">
                  <a:moveTo>
                    <a:pt x="0" y="0"/>
                  </a:moveTo>
                  <a:lnTo>
                    <a:pt x="1161610" y="0"/>
                  </a:lnTo>
                  <a:lnTo>
                    <a:pt x="1161610" y="834812"/>
                  </a:lnTo>
                  <a:lnTo>
                    <a:pt x="0" y="83481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161610" cy="8919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614273" y="4200507"/>
            <a:ext cx="3866565" cy="1598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Inventory validation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Shipping cost calculator</a:t>
            </a:r>
          </a:p>
          <a:p>
            <a:pPr marL="496571" lvl="1" indent="-248285" algn="ctr">
              <a:lnSpc>
                <a:spcPts val="3220"/>
              </a:lnSpc>
              <a:buFont typeface="Arial"/>
              <a:buChar char="•"/>
            </a:pPr>
            <a:r>
              <a:rPr lang="en-US" sz="2300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Sales analytics functions</a:t>
            </a:r>
          </a:p>
          <a:p>
            <a:pPr algn="ctr">
              <a:lnSpc>
                <a:spcPts val="3220"/>
              </a:lnSpc>
              <a:spcBef>
                <a:spcPct val="0"/>
              </a:spcBef>
            </a:pPr>
            <a:endParaRPr lang="en-US" sz="2300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4356990" y="1215615"/>
            <a:ext cx="12309142" cy="1030616"/>
            <a:chOff x="0" y="0"/>
            <a:chExt cx="3704237" cy="31014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704237" cy="310147"/>
            </a:xfrm>
            <a:custGeom>
              <a:avLst/>
              <a:gdLst/>
              <a:ahLst/>
              <a:cxnLst/>
              <a:rect l="l" t="t" r="r" b="b"/>
              <a:pathLst>
                <a:path w="3704237" h="310147">
                  <a:moveTo>
                    <a:pt x="0" y="0"/>
                  </a:moveTo>
                  <a:lnTo>
                    <a:pt x="3704237" y="0"/>
                  </a:lnTo>
                  <a:lnTo>
                    <a:pt x="3704237" y="310147"/>
                  </a:lnTo>
                  <a:lnTo>
                    <a:pt x="0" y="310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3704237" cy="367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547556" y="1184099"/>
            <a:ext cx="11928010" cy="843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0"/>
              </a:lnSpc>
              <a:spcBef>
                <a:spcPct val="0"/>
              </a:spcBef>
            </a:pPr>
            <a:r>
              <a:rPr lang="en-US" sz="4514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FUTURE ENHANCEMENTS &amp; CONCLUSION</a:t>
            </a:r>
          </a:p>
        </p:txBody>
      </p:sp>
      <p:sp>
        <p:nvSpPr>
          <p:cNvPr id="22" name="AutoShape 22"/>
          <p:cNvSpPr/>
          <p:nvPr/>
        </p:nvSpPr>
        <p:spPr>
          <a:xfrm>
            <a:off x="7891929" y="2865355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23" name="AutoShape 23"/>
          <p:cNvSpPr/>
          <p:nvPr/>
        </p:nvSpPr>
        <p:spPr>
          <a:xfrm>
            <a:off x="7884175" y="8823396"/>
            <a:ext cx="2504141" cy="0"/>
          </a:xfrm>
          <a:prstGeom prst="line">
            <a:avLst/>
          </a:prstGeom>
          <a:ln w="114300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</p:sp>
      <p:grpSp>
        <p:nvGrpSpPr>
          <p:cNvPr id="24" name="Group 24"/>
          <p:cNvGrpSpPr/>
          <p:nvPr/>
        </p:nvGrpSpPr>
        <p:grpSpPr>
          <a:xfrm>
            <a:off x="2614273" y="3430149"/>
            <a:ext cx="3866565" cy="695983"/>
            <a:chOff x="0" y="0"/>
            <a:chExt cx="2261380" cy="40704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261380" cy="407049"/>
            </a:xfrm>
            <a:custGeom>
              <a:avLst/>
              <a:gdLst/>
              <a:ahLst/>
              <a:cxnLst/>
              <a:rect l="l" t="t" r="r" b="b"/>
              <a:pathLst>
                <a:path w="2261380" h="407049">
                  <a:moveTo>
                    <a:pt x="0" y="0"/>
                  </a:moveTo>
                  <a:lnTo>
                    <a:pt x="2261380" y="0"/>
                  </a:lnTo>
                  <a:lnTo>
                    <a:pt x="2261380" y="407049"/>
                  </a:lnTo>
                  <a:lnTo>
                    <a:pt x="0" y="407049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2261380" cy="4641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511561" y="4844402"/>
            <a:ext cx="6154571" cy="2569862"/>
            <a:chOff x="0" y="0"/>
            <a:chExt cx="3599531" cy="150299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599531" cy="1502996"/>
            </a:xfrm>
            <a:custGeom>
              <a:avLst/>
              <a:gdLst/>
              <a:ahLst/>
              <a:cxnLst/>
              <a:rect l="l" t="t" r="r" b="b"/>
              <a:pathLst>
                <a:path w="3599531" h="1502996">
                  <a:moveTo>
                    <a:pt x="0" y="0"/>
                  </a:moveTo>
                  <a:lnTo>
                    <a:pt x="3599531" y="0"/>
                  </a:lnTo>
                  <a:lnTo>
                    <a:pt x="3599531" y="1502996"/>
                  </a:lnTo>
                  <a:lnTo>
                    <a:pt x="0" y="1502996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555555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3599531" cy="15601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2700349" y="3449213"/>
            <a:ext cx="3694413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ENHANCEMENTS: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34612" y="5849297"/>
            <a:ext cx="3694413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408</Words>
  <Application>Microsoft Office PowerPoint</Application>
  <PresentationFormat>Custom</PresentationFormat>
  <Paragraphs>70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</vt:lpstr>
      <vt:lpstr>Helvetica World</vt:lpstr>
      <vt:lpstr>Arial</vt:lpstr>
      <vt:lpstr>Helvetica World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Platform</dc:title>
  <dc:creator>CYUSA</dc:creator>
  <cp:lastModifiedBy>Cyusa Divince</cp:lastModifiedBy>
  <cp:revision>4</cp:revision>
  <dcterms:created xsi:type="dcterms:W3CDTF">2006-08-16T00:00:00Z</dcterms:created>
  <dcterms:modified xsi:type="dcterms:W3CDTF">2025-12-13T16:30:03Z</dcterms:modified>
  <dc:identifier>DAGixzGgDRk</dc:identifier>
</cp:coreProperties>
</file>